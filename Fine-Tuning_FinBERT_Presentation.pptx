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Fine-Tuning FinBERT for Financial 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Transforming pre-trained language models for financial domain expertise</a:t>
            </a:r>
          </a:p>
          <a:p>
            <a:r>
              <a:rPr dirty="0"/>
              <a:t>Presenter: </a:t>
            </a:r>
            <a:r>
              <a:rPr lang="en-US" dirty="0"/>
              <a:t>Nilay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4600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Problem: Generic models struggle with financial terminology and context</a:t>
            </a:r>
          </a:p>
          <a:p>
            <a:r>
              <a:rPr dirty="0"/>
              <a:t>Applications: Market prediction, risk assessment, automated trading</a:t>
            </a:r>
          </a:p>
          <a:p>
            <a:r>
              <a:rPr dirty="0"/>
              <a:t>Our Approach:</a:t>
            </a:r>
          </a:p>
          <a:p>
            <a:r>
              <a:rPr dirty="0"/>
              <a:t>- Leverage transfer learning with pre-trained </a:t>
            </a:r>
            <a:r>
              <a:rPr dirty="0" err="1"/>
              <a:t>DistilBERT</a:t>
            </a:r>
            <a:r>
              <a:rPr dirty="0"/>
              <a:t> model</a:t>
            </a:r>
          </a:p>
          <a:p>
            <a:r>
              <a:rPr dirty="0"/>
              <a:t>- Fine-tune on Financial </a:t>
            </a:r>
            <a:r>
              <a:rPr dirty="0" err="1"/>
              <a:t>PhraseBank</a:t>
            </a:r>
            <a:r>
              <a:rPr dirty="0"/>
              <a:t> dataset (2,264 labeled sentences)</a:t>
            </a:r>
          </a:p>
          <a:p>
            <a:r>
              <a:rPr dirty="0"/>
              <a:t>- Optimize hyperparameters systematically</a:t>
            </a:r>
          </a:p>
          <a:p>
            <a:r>
              <a:rPr dirty="0"/>
              <a:t>- Create accessible inference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 &amp;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t>Base Model: DistilBERT (66M parameters, 6 transformer layers)</a:t>
            </a:r>
          </a:p>
          <a:p>
            <a:r>
              <a:t>Data Split: 70% training, 15% validation, 15% test</a:t>
            </a:r>
          </a:p>
          <a:p>
            <a:r>
              <a:t>Hyperparameter Testing:</a:t>
            </a:r>
          </a:p>
          <a:p>
            <a:r>
              <a:t>- Learning rates: 1e-5, 3e-5</a:t>
            </a:r>
          </a:p>
          <a:p>
            <a:r>
              <a:t>- Batch sizes: 8, 16</a:t>
            </a:r>
          </a:p>
          <a:p>
            <a:r>
              <a:t>- Weight decay: 0.01, 0.1</a:t>
            </a:r>
          </a:p>
          <a:p>
            <a:r>
              <a:t>Best Configuration: LR: 3e-5, Batch: 8, Weight decay: 0.01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t>Baseline (Pre-Fine-Tuning):</a:t>
            </a:r>
          </a:p>
          <a:p>
            <a:r>
              <a:t>- Accuracy: 11.4%</a:t>
            </a:r>
          </a:p>
          <a:p>
            <a:r>
              <a:t>- F1 Score: 6.8%</a:t>
            </a:r>
          </a:p>
          <a:p>
            <a:r>
              <a:t>Fine-Tuned Model:</a:t>
            </a:r>
          </a:p>
          <a:p>
            <a:r>
              <a:t>- Accuracy: 97.4%</a:t>
            </a:r>
          </a:p>
          <a:p>
            <a:r>
              <a:t>- F1 Score: 96.3%</a:t>
            </a:r>
          </a:p>
          <a:p>
            <a:r>
              <a:t>Improvement:</a:t>
            </a:r>
          </a:p>
          <a:p>
            <a:r>
              <a:t>- Accuracy: +86.0%</a:t>
            </a:r>
          </a:p>
          <a:p>
            <a:r>
              <a:t>- F1 Score: +89.5%</a:t>
            </a:r>
          </a:p>
          <a:p>
            <a:r>
              <a:t>Training Time: ~3 minutes on standard GPU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/>
          <a:lstStyle/>
          <a:p>
            <a:r>
              <a:t>Error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t>Common Misclassifications:</a:t>
            </a:r>
          </a:p>
          <a:p>
            <a:r>
              <a:t>- Neutral statements with numeric data sometimes classified as positive</a:t>
            </a:r>
          </a:p>
          <a:p>
            <a:r>
              <a:t>- Mixed sentiment statements challenging</a:t>
            </a:r>
          </a:p>
          <a:p>
            <a:r>
              <a:t>- Context-dependent financial terms</a:t>
            </a:r>
          </a:p>
          <a:p>
            <a:r>
              <a:t>Example:</a:t>
            </a:r>
          </a:p>
          <a:p>
            <a:r>
              <a:t>"Following this increase Huhtamaki's registered share capital is EUR360.62m..."</a:t>
            </a:r>
          </a:p>
          <a:p>
            <a:r>
              <a:t>- Predicted: Positive</a:t>
            </a:r>
          </a:p>
          <a:p>
            <a:r>
              <a:t>- Actual: Neutral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&amp;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6133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t>Live demonstration using Gradio interface</a:t>
            </a:r>
          </a:p>
          <a:p>
            <a:r>
              <a:t>Test examples:</a:t>
            </a:r>
          </a:p>
          <a:p>
            <a:r>
              <a:t>- Positive: "Our company exceeded quarterly revenue targets by 18%"</a:t>
            </a:r>
          </a:p>
          <a:p>
            <a:r>
              <a:t>- Neutral: "The company has maintained its previous guidance"</a:t>
            </a:r>
          </a:p>
          <a:p>
            <a:r>
              <a:t>- Negative: "Rising raw material costs have reduced our margins"</a:t>
            </a:r>
          </a:p>
          <a:p>
            <a:r>
              <a:t>Real-World Applications:</a:t>
            </a:r>
          </a:p>
          <a:p>
            <a:r>
              <a:t>- Financial news monitoring and alerting</a:t>
            </a:r>
          </a:p>
          <a:p>
            <a:r>
              <a:t>- Earnings call analysis</a:t>
            </a:r>
          </a:p>
          <a:p>
            <a:r>
              <a:t>- Regulatory filing examination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6134"/>
            <a:ext cx="8229600" cy="4525963"/>
          </a:xfrm>
        </p:spPr>
        <p:txBody>
          <a:bodyPr>
            <a:normAutofit fontScale="85000" lnSpcReduction="10000"/>
          </a:bodyPr>
          <a:lstStyle/>
          <a:p>
            <a:r>
              <a:t>Technical Insights:</a:t>
            </a:r>
          </a:p>
          <a:p>
            <a:r>
              <a:t>- Fine-tuning dramatically outperforms pre-trained models on domain-specific tasks</a:t>
            </a:r>
          </a:p>
          <a:p>
            <a:r>
              <a:t>- Small batch sizes were more effective for this dataset</a:t>
            </a:r>
          </a:p>
          <a:p>
            <a:r>
              <a:t>- Only 3 epochs needed to reach optimal performance</a:t>
            </a:r>
          </a:p>
          <a:p>
            <a:r>
              <a:t>Process Takeaways:</a:t>
            </a:r>
          </a:p>
          <a:p>
            <a:r>
              <a:t>- Validation set crucial for preventing overfitting</a:t>
            </a:r>
          </a:p>
          <a:p>
            <a:r>
              <a:t>- Error analysis provides insights for model improvement</a:t>
            </a:r>
          </a:p>
          <a:p>
            <a:r>
              <a:t>- Creating accessible interfaces increases model utility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971"/>
            <a:ext cx="8229600" cy="1143000"/>
          </a:xfrm>
        </p:spPr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5971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Successfully fine-tuned </a:t>
            </a:r>
            <a:r>
              <a:rPr dirty="0" err="1"/>
              <a:t>DistilBERT</a:t>
            </a:r>
            <a:r>
              <a:rPr dirty="0"/>
              <a:t> for financial sentiment analysis with 97.4% accuracy</a:t>
            </a:r>
          </a:p>
          <a:p>
            <a:r>
              <a:rPr dirty="0"/>
              <a:t>Demonstrated value of domain-specific fine-tuning</a:t>
            </a:r>
          </a:p>
          <a:p>
            <a:r>
              <a:rPr dirty="0"/>
              <a:t>Future Directions:</a:t>
            </a:r>
          </a:p>
          <a:p>
            <a:r>
              <a:rPr dirty="0"/>
              <a:t>- Incorporate larger financial text datasets</a:t>
            </a:r>
          </a:p>
          <a:p>
            <a:r>
              <a:rPr dirty="0"/>
              <a:t>- Test other pre-trained models (BERT, </a:t>
            </a:r>
            <a:r>
              <a:rPr dirty="0" err="1"/>
              <a:t>RoBERTa</a:t>
            </a:r>
            <a:r>
              <a:rPr dirty="0"/>
              <a:t>)</a:t>
            </a:r>
          </a:p>
          <a:p>
            <a:r>
              <a:rPr dirty="0"/>
              <a:t>- Multi-label classification beyond positive/neutral/negative</a:t>
            </a:r>
          </a:p>
          <a:p>
            <a:r>
              <a:rPr dirty="0"/>
              <a:t>- Aspect-based sentiment analysis for financial documents</a:t>
            </a:r>
          </a:p>
          <a:p>
            <a:r>
              <a:rPr dirty="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421</Words>
  <Application>Microsoft Office PowerPoint</Application>
  <PresentationFormat>On-screen Show (4:3)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Fine-Tuning FinBERT for Financial Sentiment Analysis</vt:lpstr>
      <vt:lpstr>Problem &amp; Approach</vt:lpstr>
      <vt:lpstr>Model Architecture &amp; Training</vt:lpstr>
      <vt:lpstr>Key Results</vt:lpstr>
      <vt:lpstr>Error Analysis</vt:lpstr>
      <vt:lpstr>Demo &amp; Application</vt:lpstr>
      <vt:lpstr>Lessons Learned</vt:lpstr>
      <vt:lpstr>Conclusion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Nilay Raut</cp:lastModifiedBy>
  <cp:revision>2</cp:revision>
  <dcterms:created xsi:type="dcterms:W3CDTF">2013-01-27T09:14:16Z</dcterms:created>
  <dcterms:modified xsi:type="dcterms:W3CDTF">2025-05-01T09:05:50Z</dcterms:modified>
  <cp:category/>
</cp:coreProperties>
</file>